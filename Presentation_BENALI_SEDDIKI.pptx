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0" r:id="rId2"/>
    <p:sldId id="257" r:id="rId3"/>
    <p:sldId id="271" r:id="rId4"/>
    <p:sldId id="258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97224-6135-4915-9C24-C1D72A421412}" type="datetimeFigureOut">
              <a:rPr lang="fr-FR" smtClean="0"/>
              <a:t>02/01/2026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DC9F8-E741-427B-B1E5-61FA42D77FB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5841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97224-6135-4915-9C24-C1D72A421412}" type="datetimeFigureOut">
              <a:rPr lang="fr-FR" smtClean="0"/>
              <a:t>02/01/2026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DC9F8-E741-427B-B1E5-61FA42D77FB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932368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97224-6135-4915-9C24-C1D72A421412}" type="datetimeFigureOut">
              <a:rPr lang="fr-FR" smtClean="0"/>
              <a:t>02/01/2026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DC9F8-E741-427B-B1E5-61FA42D77FB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254478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97224-6135-4915-9C24-C1D72A421412}" type="datetimeFigureOut">
              <a:rPr lang="fr-FR" smtClean="0"/>
              <a:t>02/01/2026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DC9F8-E741-427B-B1E5-61FA42D77FB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004209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97224-6135-4915-9C24-C1D72A421412}" type="datetimeFigureOut">
              <a:rPr lang="fr-FR" smtClean="0"/>
              <a:t>02/01/2026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DC9F8-E741-427B-B1E5-61FA42D77FB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5984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97224-6135-4915-9C24-C1D72A421412}" type="datetimeFigureOut">
              <a:rPr lang="fr-FR" smtClean="0"/>
              <a:t>02/01/2026</a:t>
            </a:fld>
            <a:endParaRPr lang="fr-FR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DC9F8-E741-427B-B1E5-61FA42D77FB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3741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97224-6135-4915-9C24-C1D72A421412}" type="datetimeFigureOut">
              <a:rPr lang="fr-FR" smtClean="0"/>
              <a:t>02/01/2026</a:t>
            </a:fld>
            <a:endParaRPr lang="fr-FR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DC9F8-E741-427B-B1E5-61FA42D77FB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064497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97224-6135-4915-9C24-C1D72A421412}" type="datetimeFigureOut">
              <a:rPr lang="fr-FR" smtClean="0"/>
              <a:t>02/01/2026</a:t>
            </a:fld>
            <a:endParaRPr lang="fr-FR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DC9F8-E741-427B-B1E5-61FA42D77FB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871165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97224-6135-4915-9C24-C1D72A421412}" type="datetimeFigureOut">
              <a:rPr lang="fr-FR" smtClean="0"/>
              <a:t>02/01/2026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DC9F8-E741-427B-B1E5-61FA42D77FB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698550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97224-6135-4915-9C24-C1D72A421412}" type="datetimeFigureOut">
              <a:rPr lang="fr-FR" smtClean="0"/>
              <a:t>02/01/2026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DC9F8-E741-427B-B1E5-61FA42D77FB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1701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97224-6135-4915-9C24-C1D72A421412}" type="datetimeFigureOut">
              <a:rPr lang="fr-FR" smtClean="0"/>
              <a:t>02/01/2026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DC9F8-E741-427B-B1E5-61FA42D77FB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783135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fr-FR" smtClean="0"/>
              <a:t>Modifiez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97224-6135-4915-9C24-C1D72A421412}" type="datetimeFigureOut">
              <a:rPr lang="fr-FR" smtClean="0"/>
              <a:t>02/01/2026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DC9F8-E741-427B-B1E5-61FA42D77FB7}" type="slidenum">
              <a:rPr lang="fr-FR" smtClean="0"/>
              <a:t>‹N°›</a:t>
            </a:fld>
            <a:endParaRPr lang="fr-FR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836440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97224-6135-4915-9C24-C1D72A421412}" type="datetimeFigureOut">
              <a:rPr lang="fr-FR" smtClean="0"/>
              <a:t>02/01/2026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DC9F8-E741-427B-B1E5-61FA42D77FB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904967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97224-6135-4915-9C24-C1D72A421412}" type="datetimeFigureOut">
              <a:rPr lang="fr-FR" smtClean="0"/>
              <a:t>02/01/2026</a:t>
            </a:fld>
            <a:endParaRPr lang="fr-F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DC9F8-E741-427B-B1E5-61FA42D77FB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646591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97224-6135-4915-9C24-C1D72A421412}" type="datetimeFigureOut">
              <a:rPr lang="fr-FR" smtClean="0"/>
              <a:t>02/01/2026</a:t>
            </a:fld>
            <a:endParaRPr lang="fr-F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DC9F8-E741-427B-B1E5-61FA42D77FB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155759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97224-6135-4915-9C24-C1D72A421412}" type="datetimeFigureOut">
              <a:rPr lang="fr-FR" smtClean="0"/>
              <a:t>02/01/2026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DC9F8-E741-427B-B1E5-61FA42D77FB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61827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97224-6135-4915-9C24-C1D72A421412}" type="datetimeFigureOut">
              <a:rPr lang="fr-FR" smtClean="0"/>
              <a:t>02/01/2026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DC9F8-E741-427B-B1E5-61FA42D77FB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96852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0497224-6135-4915-9C24-C1D72A421412}" type="datetimeFigureOut">
              <a:rPr lang="fr-FR" smtClean="0"/>
              <a:t>02/01/2026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DC9F8-E741-427B-B1E5-61FA42D77FB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1645000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63306" y="542954"/>
            <a:ext cx="5977350" cy="2557668"/>
          </a:xfrm>
        </p:spPr>
        <p:txBody>
          <a:bodyPr>
            <a:normAutofit/>
          </a:bodyPr>
          <a:lstStyle/>
          <a:p>
            <a:pPr algn="ctr"/>
            <a:r>
              <a:rPr lang="fr-FR" dirty="0" smtClean="0"/>
              <a:t>Réalisation d’un Mini-SOC</a:t>
            </a:r>
            <a:br>
              <a:rPr lang="fr-FR" dirty="0" smtClean="0"/>
            </a:br>
            <a:r>
              <a:rPr lang="fr-FR" dirty="0" smtClean="0"/>
              <a:t>Open </a:t>
            </a:r>
            <a:r>
              <a:rPr lang="fr-FR" dirty="0"/>
              <a:t>Source – Détection &amp; </a:t>
            </a:r>
            <a:r>
              <a:rPr lang="fr-FR" dirty="0" smtClean="0"/>
              <a:t>Réponse</a:t>
            </a:r>
            <a:r>
              <a:rPr lang="fr-FR" dirty="0"/>
              <a:t/>
            </a:r>
            <a:br>
              <a:rPr lang="fr-FR" dirty="0"/>
            </a:br>
            <a:endParaRPr lang="fr-FR" dirty="0"/>
          </a:p>
        </p:txBody>
      </p:sp>
      <p:pic>
        <p:nvPicPr>
          <p:cNvPr id="5" name="Espace réservé pour une image  4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20" b="10520"/>
          <a:stretch>
            <a:fillRect/>
          </a:stretch>
        </p:blipFill>
        <p:spPr>
          <a:xfrm>
            <a:off x="7104753" y="1821788"/>
            <a:ext cx="4649925" cy="3671623"/>
          </a:xfrm>
        </p:spPr>
      </p:pic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903163" y="3074503"/>
            <a:ext cx="5497637" cy="2597427"/>
          </a:xfrm>
        </p:spPr>
        <p:txBody>
          <a:bodyPr>
            <a:normAutofit/>
          </a:bodyPr>
          <a:lstStyle/>
          <a:p>
            <a:pPr algn="ctr"/>
            <a:r>
              <a:rPr lang="fr-FR" sz="2000" b="1" u="sng" dirty="0" smtClean="0"/>
              <a:t>Réalisé par:</a:t>
            </a:r>
          </a:p>
          <a:p>
            <a:pPr algn="ctr"/>
            <a:r>
              <a:rPr lang="fr-FR" sz="2000" dirty="0" smtClean="0"/>
              <a:t>BENALI </a:t>
            </a:r>
            <a:r>
              <a:rPr lang="fr-FR" sz="2000" dirty="0" err="1" smtClean="0"/>
              <a:t>Adem</a:t>
            </a:r>
            <a:r>
              <a:rPr lang="fr-FR" sz="2000" dirty="0" smtClean="0"/>
              <a:t/>
            </a:r>
            <a:br>
              <a:rPr lang="fr-FR" sz="2000" dirty="0" smtClean="0"/>
            </a:br>
            <a:r>
              <a:rPr lang="fr-FR" sz="2000" dirty="0" smtClean="0"/>
              <a:t>SEDDIKI Mohamed Chakib</a:t>
            </a:r>
          </a:p>
          <a:p>
            <a:pPr algn="ctr"/>
            <a:endParaRPr lang="fr-FR" sz="2000" dirty="0" smtClean="0"/>
          </a:p>
          <a:p>
            <a:pPr algn="ctr"/>
            <a:r>
              <a:rPr lang="fr-FR" sz="2000" b="1" u="sng" dirty="0" smtClean="0"/>
              <a:t>Supervisé par:</a:t>
            </a:r>
          </a:p>
          <a:p>
            <a:pPr algn="ctr"/>
            <a:r>
              <a:rPr lang="fr-FR" sz="2000" dirty="0" smtClean="0"/>
              <a:t>LAM Alassane</a:t>
            </a:r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26877514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FC280F3C-0402-FEEF-F1C1-368DF6B72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68" y="652388"/>
            <a:ext cx="9404723" cy="1400530"/>
          </a:xfrm>
        </p:spPr>
        <p:txBody>
          <a:bodyPr/>
          <a:lstStyle/>
          <a:p>
            <a:r>
              <a:rPr lang="fr-FR" sz="3200" b="1" dirty="0"/>
              <a:t>A) Architecture, scénario, incidents détectés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xmlns="" id="{C8051204-1943-2522-E9F2-1991828D2F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8850" y="2051749"/>
            <a:ext cx="8946541" cy="41954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b="1" dirty="0"/>
              <a:t>1- Architecture (3 </a:t>
            </a:r>
            <a:r>
              <a:rPr lang="fr-FR" b="1" dirty="0" err="1"/>
              <a:t>VMs</a:t>
            </a:r>
            <a:r>
              <a:rPr lang="fr-FR" b="1" dirty="0"/>
              <a:t> + outils)</a:t>
            </a:r>
            <a:r>
              <a:rPr lang="fr-FR" dirty="0"/>
              <a:t/>
            </a:r>
            <a:br>
              <a:rPr lang="fr-FR" dirty="0"/>
            </a:br>
            <a:endParaRPr lang="fr-FR" dirty="0"/>
          </a:p>
          <a:p>
            <a:r>
              <a:rPr lang="fr-FR" b="1" dirty="0"/>
              <a:t>SOC Server (10.10.10.10)</a:t>
            </a:r>
            <a:r>
              <a:rPr lang="fr-FR" dirty="0"/>
              <a:t> : </a:t>
            </a:r>
            <a:r>
              <a:rPr lang="fr-FR" dirty="0" err="1"/>
              <a:t>Wazuh</a:t>
            </a:r>
            <a:r>
              <a:rPr lang="fr-FR" dirty="0"/>
              <a:t> (SIEM / corrélation), </a:t>
            </a:r>
            <a:r>
              <a:rPr lang="fr-FR" dirty="0" err="1"/>
              <a:t>TheHive</a:t>
            </a:r>
            <a:r>
              <a:rPr lang="fr-FR" dirty="0"/>
              <a:t> (gestion d’incident)</a:t>
            </a:r>
          </a:p>
          <a:p>
            <a:r>
              <a:rPr lang="fr-FR" b="1" dirty="0"/>
              <a:t>Target Ubuntu (10.10.10.20)</a:t>
            </a:r>
            <a:r>
              <a:rPr lang="fr-FR" dirty="0"/>
              <a:t> : </a:t>
            </a:r>
            <a:r>
              <a:rPr lang="fr-FR" dirty="0" err="1"/>
              <a:t>Wazuh</a:t>
            </a:r>
            <a:r>
              <a:rPr lang="fr-FR" dirty="0"/>
              <a:t> Agent, </a:t>
            </a:r>
            <a:r>
              <a:rPr lang="fr-FR" dirty="0" err="1"/>
              <a:t>Suricata</a:t>
            </a:r>
            <a:r>
              <a:rPr lang="fr-FR" dirty="0"/>
              <a:t> (IDS), Fail2Ban (réponse automatique), logs SSH</a:t>
            </a:r>
          </a:p>
          <a:p>
            <a:r>
              <a:rPr lang="fr-FR" b="1" dirty="0" err="1"/>
              <a:t>Attacker</a:t>
            </a:r>
            <a:r>
              <a:rPr lang="fr-FR" b="1" dirty="0"/>
              <a:t> Kali (10.10.10.30)</a:t>
            </a:r>
            <a:r>
              <a:rPr lang="fr-FR" dirty="0"/>
              <a:t> : Hydra (attaque brute force), Wireshark (capture réseau)</a:t>
            </a:r>
          </a:p>
          <a:p>
            <a:r>
              <a:rPr lang="fr-FR" b="1" dirty="0"/>
              <a:t>Flux principal</a:t>
            </a:r>
            <a:r>
              <a:rPr lang="fr-FR" dirty="0"/>
              <a:t> : Kali → SSH(22) → Ubuntu → alertes/logs → </a:t>
            </a:r>
            <a:r>
              <a:rPr lang="fr-FR" dirty="0" err="1"/>
              <a:t>Wazuh</a:t>
            </a:r>
            <a:r>
              <a:rPr lang="fr-FR" dirty="0"/>
              <a:t> → traitement incident dans </a:t>
            </a:r>
            <a:r>
              <a:rPr lang="fr-FR" dirty="0" err="1"/>
              <a:t>TheHive</a:t>
            </a: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772042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xmlns="" id="{CFB549D2-E556-CC89-ACFC-8159D80EFE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3736" y="968689"/>
            <a:ext cx="9377516" cy="53658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3500" b="1" dirty="0"/>
              <a:t>2-  Scénario </a:t>
            </a:r>
            <a:r>
              <a:rPr lang="fr-FR" sz="3500" b="1" dirty="0" smtClean="0"/>
              <a:t>d’attaque</a:t>
            </a:r>
            <a:endParaRPr lang="fr-FR" sz="3500" b="1" dirty="0"/>
          </a:p>
          <a:p>
            <a:pPr marL="0" indent="0">
              <a:buNone/>
            </a:pPr>
            <a:r>
              <a:rPr lang="fr-FR" dirty="0"/>
              <a:t/>
            </a:r>
            <a:br>
              <a:rPr lang="fr-FR" dirty="0"/>
            </a:br>
            <a:r>
              <a:rPr lang="fr-FR" b="1" dirty="0"/>
              <a:t>Objectif attaquant</a:t>
            </a:r>
            <a:r>
              <a:rPr lang="fr-FR" dirty="0"/>
              <a:t> : deviner le mot de passe SSH du compte </a:t>
            </a:r>
            <a:r>
              <a:rPr lang="fr-FR" b="1" dirty="0" err="1" smtClean="0"/>
              <a:t>SOC</a:t>
            </a:r>
            <a:r>
              <a:rPr lang="fr-FR" b="1" dirty="0" err="1" smtClean="0"/>
              <a:t>user</a:t>
            </a:r>
            <a:r>
              <a:rPr lang="fr-FR" dirty="0" smtClean="0"/>
              <a:t> </a:t>
            </a:r>
            <a:r>
              <a:rPr lang="fr-FR" dirty="0"/>
              <a:t>sur la cible </a:t>
            </a:r>
            <a:r>
              <a:rPr lang="fr-FR" b="1" dirty="0"/>
              <a:t>10.10.10.20:22</a:t>
            </a:r>
            <a:endParaRPr lang="fr-FR" dirty="0"/>
          </a:p>
          <a:p>
            <a:r>
              <a:rPr lang="fr-FR" b="1" dirty="0"/>
              <a:t>Méthode</a:t>
            </a:r>
            <a:r>
              <a:rPr lang="fr-FR" dirty="0"/>
              <a:t> : attaque </a:t>
            </a:r>
            <a:r>
              <a:rPr lang="fr-FR" b="1" dirty="0"/>
              <a:t>brute force dictionnaire</a:t>
            </a:r>
            <a:r>
              <a:rPr lang="fr-FR" dirty="0"/>
              <a:t> (liste de mots de passe) via </a:t>
            </a:r>
            <a:r>
              <a:rPr lang="fr-FR" b="1" dirty="0"/>
              <a:t>Hydra</a:t>
            </a:r>
            <a:endParaRPr lang="fr-FR" dirty="0"/>
          </a:p>
          <a:p>
            <a:r>
              <a:rPr lang="fr-FR" b="1" dirty="0"/>
              <a:t>Résultat attendu côté défense</a:t>
            </a:r>
            <a:r>
              <a:rPr lang="fr-FR" dirty="0"/>
              <a:t> :</a:t>
            </a:r>
          </a:p>
          <a:p>
            <a:pPr lvl="1"/>
            <a:r>
              <a:rPr lang="fr-FR" dirty="0"/>
              <a:t>Traces dans </a:t>
            </a:r>
            <a:r>
              <a:rPr lang="fr-FR" b="1" dirty="0"/>
              <a:t>/var/log/auth.log</a:t>
            </a:r>
            <a:endParaRPr lang="fr-FR" dirty="0"/>
          </a:p>
          <a:p>
            <a:pPr lvl="1"/>
            <a:r>
              <a:rPr lang="fr-FR" dirty="0"/>
              <a:t>Alertes IDS dans </a:t>
            </a:r>
            <a:r>
              <a:rPr lang="fr-FR" b="1" dirty="0" err="1"/>
              <a:t>Suricata</a:t>
            </a:r>
            <a:r>
              <a:rPr lang="fr-FR" b="1" dirty="0"/>
              <a:t> (fast.log / </a:t>
            </a:r>
            <a:r>
              <a:rPr lang="fr-FR" b="1" dirty="0" err="1"/>
              <a:t>eve.json</a:t>
            </a:r>
            <a:r>
              <a:rPr lang="fr-FR" b="1" dirty="0"/>
              <a:t>)</a:t>
            </a:r>
            <a:endParaRPr lang="fr-FR" dirty="0"/>
          </a:p>
          <a:p>
            <a:pPr lvl="1"/>
            <a:r>
              <a:rPr lang="fr-FR" dirty="0"/>
              <a:t>Alertes SIEM dans </a:t>
            </a:r>
            <a:r>
              <a:rPr lang="fr-FR" b="1" dirty="0" err="1"/>
              <a:t>Wazuh</a:t>
            </a:r>
            <a:endParaRPr lang="fr-FR" dirty="0"/>
          </a:p>
          <a:p>
            <a:pPr lvl="1"/>
            <a:r>
              <a:rPr lang="fr-FR" b="1" dirty="0"/>
              <a:t>Réponse automatique</a:t>
            </a:r>
            <a:r>
              <a:rPr lang="fr-FR" dirty="0"/>
              <a:t> : </a:t>
            </a:r>
            <a:r>
              <a:rPr lang="fr-FR" b="1" dirty="0"/>
              <a:t>Fail2Ban bannit l’IP 10.10.10.30</a:t>
            </a: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68768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xmlns="" id="{AA68D31F-67A4-2447-9A20-1CF2E2D2BD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138" y="1733986"/>
            <a:ext cx="9205021" cy="3248831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xmlns="" id="{11F5B242-D840-F16A-0725-45C64484EB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8196" y="1736519"/>
            <a:ext cx="2326745" cy="3246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276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874F0BED-7E52-D5B1-DFE4-1012B898C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11638654" cy="1400530"/>
          </a:xfrm>
        </p:spPr>
        <p:txBody>
          <a:bodyPr>
            <a:normAutofit/>
          </a:bodyPr>
          <a:lstStyle/>
          <a:p>
            <a:r>
              <a:rPr lang="fr-FR" sz="3200" b="1" dirty="0"/>
              <a:t>C) Tableau de corrélation et alertes </a:t>
            </a:r>
            <a:r>
              <a:rPr lang="fr-FR" sz="3200" b="1" dirty="0" smtClean="0"/>
              <a:t>générées</a:t>
            </a:r>
            <a:r>
              <a:rPr lang="fr-FR" sz="3200" b="1" dirty="0"/>
              <a:t/>
            </a:r>
            <a:br>
              <a:rPr lang="fr-FR" sz="3200" b="1" dirty="0"/>
            </a:br>
            <a:endParaRPr lang="fr-FR" sz="3200" dirty="0"/>
          </a:p>
        </p:txBody>
      </p:sp>
      <p:graphicFrame>
        <p:nvGraphicFramePr>
          <p:cNvPr id="7" name="Espace réservé du contenu 6">
            <a:extLst>
              <a:ext uri="{FF2B5EF4-FFF2-40B4-BE49-F238E27FC236}">
                <a16:creationId xmlns:a16="http://schemas.microsoft.com/office/drawing/2014/main" xmlns="" id="{61FA0487-C8BD-6434-D3C8-046A73B1527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74861898"/>
              </p:ext>
            </p:extLst>
          </p:nvPr>
        </p:nvGraphicFramePr>
        <p:xfrm>
          <a:off x="838200" y="1353676"/>
          <a:ext cx="10212325" cy="5329028"/>
        </p:xfrm>
        <a:graphic>
          <a:graphicData uri="http://schemas.openxmlformats.org/drawingml/2006/table">
            <a:tbl>
              <a:tblPr/>
              <a:tblGrid>
                <a:gridCol w="2042465">
                  <a:extLst>
                    <a:ext uri="{9D8B030D-6E8A-4147-A177-3AD203B41FA5}">
                      <a16:colId xmlns:a16="http://schemas.microsoft.com/office/drawing/2014/main" xmlns="" val="2282063751"/>
                    </a:ext>
                  </a:extLst>
                </a:gridCol>
                <a:gridCol w="2042465">
                  <a:extLst>
                    <a:ext uri="{9D8B030D-6E8A-4147-A177-3AD203B41FA5}">
                      <a16:colId xmlns:a16="http://schemas.microsoft.com/office/drawing/2014/main" xmlns="" val="3681555106"/>
                    </a:ext>
                  </a:extLst>
                </a:gridCol>
                <a:gridCol w="2042465">
                  <a:extLst>
                    <a:ext uri="{9D8B030D-6E8A-4147-A177-3AD203B41FA5}">
                      <a16:colId xmlns:a16="http://schemas.microsoft.com/office/drawing/2014/main" xmlns="" val="2410551991"/>
                    </a:ext>
                  </a:extLst>
                </a:gridCol>
                <a:gridCol w="2042465">
                  <a:extLst>
                    <a:ext uri="{9D8B030D-6E8A-4147-A177-3AD203B41FA5}">
                      <a16:colId xmlns:a16="http://schemas.microsoft.com/office/drawing/2014/main" xmlns="" val="3939500127"/>
                    </a:ext>
                  </a:extLst>
                </a:gridCol>
                <a:gridCol w="2042465">
                  <a:extLst>
                    <a:ext uri="{9D8B030D-6E8A-4147-A177-3AD203B41FA5}">
                      <a16:colId xmlns:a16="http://schemas.microsoft.com/office/drawing/2014/main" xmlns="" val="2106380461"/>
                    </a:ext>
                  </a:extLst>
                </a:gridCol>
              </a:tblGrid>
              <a:tr h="6216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700"/>
                        <a:t>Étape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700"/>
                        <a:t>Source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700"/>
                        <a:t>Preuve / log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700"/>
                        <a:t>Indicateur clé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700" dirty="0"/>
                        <a:t>Sortie (alerte/action)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877766298"/>
                  </a:ext>
                </a:extLst>
              </a:tr>
              <a:tr h="6216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700"/>
                        <a:t>1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700"/>
                        <a:t>Hydra (Kali)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700" b="1"/>
                        <a:t>Hydra output</a:t>
                      </a:r>
                      <a:endParaRPr lang="fr-FR" sz="1700"/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700"/>
                        <a:t>tentatives multiples SSH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700"/>
                        <a:t>génère trafic répétitif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747192495"/>
                  </a:ext>
                </a:extLst>
              </a:tr>
              <a:tr h="6216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700"/>
                        <a:t>2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700"/>
                        <a:t>Ubuntu SSH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700" b="1"/>
                        <a:t>/var/log/auth.log</a:t>
                      </a:r>
                      <a:endParaRPr lang="fr-FR" sz="1700"/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700"/>
                        <a:t>“Failed password” depuis </a:t>
                      </a:r>
                      <a:r>
                        <a:rPr lang="fr-FR" sz="1700" b="1"/>
                        <a:t>10.10.10.30</a:t>
                      </a:r>
                      <a:endParaRPr lang="fr-FR" sz="1700"/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700"/>
                        <a:t>preuve locale de bruteforce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039319965"/>
                  </a:ext>
                </a:extLst>
              </a:tr>
              <a:tr h="6216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700"/>
                        <a:t>3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700"/>
                        <a:t>Suricata IDS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700" b="1" dirty="0"/>
                        <a:t>fast.log / </a:t>
                      </a:r>
                      <a:r>
                        <a:rPr lang="fr-FR" sz="1700" b="1" dirty="0" err="1"/>
                        <a:t>eve.json</a:t>
                      </a:r>
                      <a:endParaRPr lang="fr-FR" sz="1700" dirty="0"/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700"/>
                        <a:t>alerte réseau sur trafic SSH anormal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700"/>
                        <a:t>évènement IDS enregistré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115724242"/>
                  </a:ext>
                </a:extLst>
              </a:tr>
              <a:tr h="6216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700"/>
                        <a:t>4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700"/>
                        <a:t>Wazuh SIEM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700" b="1"/>
                        <a:t>alerte Wazuh + MITRE</a:t>
                      </a:r>
                      <a:endParaRPr lang="fr-FR" sz="1700"/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700"/>
                        <a:t>Password Guessing (T1110.001)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700"/>
                        <a:t>incident remonté SIEM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716083251"/>
                  </a:ext>
                </a:extLst>
              </a:tr>
              <a:tr h="6216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700"/>
                        <a:t>5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700"/>
                        <a:t>Fail2Ban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700" b="1"/>
                        <a:t>fail2ban status</a:t>
                      </a:r>
                      <a:endParaRPr lang="fr-FR" sz="1700"/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700"/>
                        <a:t>seuil dépassé (failures)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700" b="1"/>
                        <a:t>ban IP 10.10.10.30</a:t>
                      </a:r>
                      <a:endParaRPr lang="fr-FR" sz="1700"/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154526131"/>
                  </a:ext>
                </a:extLst>
              </a:tr>
              <a:tr h="6216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700"/>
                        <a:t>6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700"/>
                        <a:t>Wireshark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700" b="1"/>
                        <a:t>pcap / capture</a:t>
                      </a:r>
                      <a:endParaRPr lang="fr-FR" sz="1700"/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700"/>
                        <a:t>sessions coupées / RST / unreachable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700" dirty="0"/>
                        <a:t>preuve réseau du blocage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7363263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969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AEBF476E-E35D-623B-69B0-188A687E6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293019" cy="1400530"/>
          </a:xfrm>
        </p:spPr>
        <p:txBody>
          <a:bodyPr>
            <a:normAutofit/>
          </a:bodyPr>
          <a:lstStyle/>
          <a:p>
            <a:r>
              <a:rPr lang="fr-FR" sz="3200" b="1" dirty="0"/>
              <a:t>D) Logs, captures et analyse des alertes </a:t>
            </a:r>
            <a:r>
              <a:rPr lang="fr-FR" sz="3200" b="1" dirty="0" smtClean="0"/>
              <a:t>détectées</a:t>
            </a:r>
            <a:endParaRPr lang="fr-FR" sz="32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EBF7B02A-AAAE-4144-417A-A30D1568AD0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6907" y="1853248"/>
            <a:ext cx="912401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sz="1800" b="1" dirty="0"/>
              <a:t>Preuve Attaque (Hydra)</a:t>
            </a:r>
            <a:endParaRPr kumimoji="0" lang="fr-FR" altLang="fr-FR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Hydra réalise plusieurs tentatives SSH sur </a:t>
            </a: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10.10.10.20:22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avec l’utilisateur </a:t>
            </a:r>
            <a:r>
              <a:rPr kumimoji="0" lang="fr-FR" altLang="fr-FR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SOCuser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Ceci simule un </a:t>
            </a: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brute force dictionnaire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(attaque automatique rapide)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Cette activité déclenche des traces côté serveur SSH + IDS/SIEM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xmlns="" id="{2B6D92FF-AA2B-2DD5-BC81-4CA76535F3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7425" y="3432313"/>
            <a:ext cx="8403409" cy="2965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711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AC4ED033-4137-EEE3-4D8E-93E5260BE4E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659834" y="857587"/>
            <a:ext cx="8319054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sz="1800" b="1" dirty="0"/>
              <a:t>Preuve système (auth.log)</a:t>
            </a:r>
            <a:endParaRPr kumimoji="0" lang="fr-FR" altLang="fr-FR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Les 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logs SSH montrent des </a:t>
            </a: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échecs d’authentification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(“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Failed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password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”)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 source est l’IP </a:t>
            </a: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10.10.10.30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(attaquant)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Cela confirme que la cible subit une </a:t>
            </a: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attaque </a:t>
            </a:r>
            <a:r>
              <a:rPr kumimoji="0" lang="fr-FR" altLang="fr-F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Password</a:t>
            </a: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Guessing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sur SSH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xmlns="" id="{9BBE91F6-E378-392B-6375-CC026CE655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9659" y="2718517"/>
            <a:ext cx="6797629" cy="3261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914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94FE8FD5-93C9-4415-6997-16BA8AA7A7D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532537"/>
            <a:ext cx="7696338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sz="1800" b="1" dirty="0"/>
              <a:t>Preuve IDS (</a:t>
            </a:r>
            <a:r>
              <a:rPr lang="fr-FR" sz="1800" b="1" dirty="0" err="1"/>
              <a:t>Suricata</a:t>
            </a:r>
            <a:r>
              <a:rPr lang="fr-FR" sz="1800" b="1" dirty="0"/>
              <a:t>)</a:t>
            </a:r>
            <a:endParaRPr kumimoji="0" lang="fr-FR" altLang="fr-FR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Suricata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détecte une activité anormale liée au trafic SSH (port 22)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Les évènements sont enregistrés dans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fast.log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(alertes lisibles)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eve.json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(évènements structurés :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src_ip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dest_ip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port,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event_type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=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ssh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IOC principal confirmé : </a:t>
            </a:r>
            <a:r>
              <a:rPr kumimoji="0" lang="fr-FR" altLang="fr-F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src_ip</a:t>
            </a: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10.10.10.30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</a:t>
            </a:r>
            <a:r>
              <a:rPr kumimoji="0" lang="fr-FR" altLang="fr-F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dest_ip</a:t>
            </a: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10.10.10.20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xmlns="" id="{6DCA61DD-772C-E9BB-ADD8-C79EB45A10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6833" y="3100617"/>
            <a:ext cx="9097373" cy="3317338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xmlns="" id="{2FFACE65-5BAD-1F21-5626-0C55133D71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6134" y="2611219"/>
            <a:ext cx="6759526" cy="36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220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xmlns="" id="{445AAEFB-5245-8D60-B188-EAC1F812F0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96598" y="436283"/>
            <a:ext cx="7863348" cy="2359925"/>
          </a:xfrm>
        </p:spPr>
        <p:txBody>
          <a:bodyPr>
            <a:normAutofit fontScale="77500" lnSpcReduction="20000"/>
          </a:bodyPr>
          <a:lstStyle/>
          <a:p>
            <a:r>
              <a:rPr lang="fr-FR" sz="2200" b="1" dirty="0"/>
              <a:t>Preuve SIEM (</a:t>
            </a:r>
            <a:r>
              <a:rPr lang="fr-FR" sz="2200" b="1" dirty="0" err="1"/>
              <a:t>Wazuh</a:t>
            </a:r>
            <a:r>
              <a:rPr lang="fr-FR" sz="2200" b="1" dirty="0"/>
              <a:t>)</a:t>
            </a:r>
          </a:p>
          <a:p>
            <a:r>
              <a:rPr lang="fr-FR" sz="2200" dirty="0" err="1"/>
              <a:t>Wazuh</a:t>
            </a:r>
            <a:r>
              <a:rPr lang="fr-FR" sz="2200" dirty="0"/>
              <a:t> corrèle les logs et remonte une alerte de sécurité</a:t>
            </a:r>
          </a:p>
          <a:p>
            <a:r>
              <a:rPr lang="fr-FR" sz="2200" dirty="0"/>
              <a:t>L’alerte inclut :</a:t>
            </a:r>
          </a:p>
          <a:p>
            <a:pPr lvl="1"/>
            <a:r>
              <a:rPr lang="fr-FR" sz="2200" b="1" dirty="0"/>
              <a:t>MITRE ATT&amp;CK : T1110.001 (</a:t>
            </a:r>
            <a:r>
              <a:rPr lang="fr-FR" sz="2200" b="1" dirty="0" err="1"/>
              <a:t>Password</a:t>
            </a:r>
            <a:r>
              <a:rPr lang="fr-FR" sz="2200" b="1" dirty="0"/>
              <a:t> </a:t>
            </a:r>
            <a:r>
              <a:rPr lang="fr-FR" sz="2200" b="1" dirty="0" err="1"/>
              <a:t>Guessing</a:t>
            </a:r>
            <a:r>
              <a:rPr lang="fr-FR" sz="2200" b="1" dirty="0"/>
              <a:t>)</a:t>
            </a:r>
            <a:endParaRPr lang="fr-FR" sz="2200" dirty="0"/>
          </a:p>
          <a:p>
            <a:pPr lvl="1"/>
            <a:r>
              <a:rPr lang="fr-FR" sz="2200" b="1" dirty="0" err="1"/>
              <a:t>Tactic</a:t>
            </a:r>
            <a:r>
              <a:rPr lang="fr-FR" sz="2200" b="1" dirty="0"/>
              <a:t> : </a:t>
            </a:r>
            <a:r>
              <a:rPr lang="fr-FR" sz="2200" b="1" dirty="0" err="1"/>
              <a:t>Credential</a:t>
            </a:r>
            <a:r>
              <a:rPr lang="fr-FR" sz="2200" b="1" dirty="0"/>
              <a:t> Access</a:t>
            </a:r>
            <a:endParaRPr lang="fr-FR" sz="2200" dirty="0"/>
          </a:p>
          <a:p>
            <a:pPr lvl="1"/>
            <a:r>
              <a:rPr lang="fr-FR" sz="2200" b="1" dirty="0"/>
              <a:t>Full log</a:t>
            </a:r>
            <a:r>
              <a:rPr lang="fr-FR" sz="2200" dirty="0"/>
              <a:t> de l’échec SSH (preuve SIEM)</a:t>
            </a:r>
          </a:p>
          <a:p>
            <a:r>
              <a:rPr lang="fr-FR" sz="2200" dirty="0"/>
              <a:t>Ceci confirme l’incident au niveau SOC (vue centralisée)</a:t>
            </a:r>
          </a:p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xmlns="" id="{613C2BB5-9E31-A24D-80B1-BC90809D67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8921" y="2796208"/>
            <a:ext cx="8074455" cy="2068116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xmlns="" id="{05683140-F0C0-DBA9-996D-56342C9D2D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2352" y="4918918"/>
            <a:ext cx="7727594" cy="1941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932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xmlns="" id="{234D6F4B-B76D-A8DE-10AA-04DA2A594C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6159" y="523065"/>
            <a:ext cx="9003890" cy="1871304"/>
          </a:xfrm>
        </p:spPr>
        <p:txBody>
          <a:bodyPr>
            <a:normAutofit fontScale="85000" lnSpcReduction="10000"/>
          </a:bodyPr>
          <a:lstStyle/>
          <a:p>
            <a:r>
              <a:rPr lang="fr-FR" b="1" dirty="0"/>
              <a:t>Réponse automatique (Fail2Ban)</a:t>
            </a:r>
          </a:p>
          <a:p>
            <a:r>
              <a:rPr lang="fr-FR" dirty="0"/>
              <a:t>Fail2Ban surveille les échecs SSH et applique une règle automatique</a:t>
            </a:r>
          </a:p>
          <a:p>
            <a:r>
              <a:rPr lang="fr-FR" dirty="0"/>
              <a:t>Résultat : </a:t>
            </a:r>
            <a:r>
              <a:rPr lang="fr-FR" b="1" dirty="0"/>
              <a:t>ban de l’IP attaquante 10.10.10.30</a:t>
            </a:r>
            <a:endParaRPr lang="fr-FR" dirty="0"/>
          </a:p>
          <a:p>
            <a:r>
              <a:rPr lang="fr-FR" dirty="0"/>
              <a:t>Impact immédiat : Hydra obtient </a:t>
            </a:r>
            <a:r>
              <a:rPr lang="fr-FR" b="1" dirty="0"/>
              <a:t>Connection </a:t>
            </a:r>
            <a:r>
              <a:rPr lang="fr-FR" b="1" dirty="0" err="1"/>
              <a:t>refused</a:t>
            </a:r>
            <a:r>
              <a:rPr lang="fr-FR" dirty="0"/>
              <a:t> → attaque stoppée</a:t>
            </a:r>
          </a:p>
          <a:p>
            <a:r>
              <a:rPr lang="fr-FR" dirty="0"/>
              <a:t>Cela valide la partie </a:t>
            </a:r>
            <a:r>
              <a:rPr lang="fr-FR" b="1" dirty="0"/>
              <a:t>réponse / </a:t>
            </a:r>
            <a:r>
              <a:rPr lang="fr-FR" b="1" dirty="0" err="1"/>
              <a:t>containment</a:t>
            </a:r>
            <a:r>
              <a:rPr lang="fr-FR" dirty="0"/>
              <a:t> du mini-SOC</a:t>
            </a:r>
          </a:p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xmlns="" id="{080842C4-6C3B-5FD2-C742-005CB40B43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4461" y="2677940"/>
            <a:ext cx="5547285" cy="2045459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xmlns="" id="{804E6613-7A8A-C242-E842-9A8F811358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0676" y="5006971"/>
            <a:ext cx="8941047" cy="1566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19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xmlns="" id="{9988714F-C115-0304-147E-C9F5D2AA5B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8032" y="911226"/>
            <a:ext cx="9436510" cy="1782814"/>
          </a:xfrm>
        </p:spPr>
        <p:txBody>
          <a:bodyPr>
            <a:normAutofit fontScale="85000" lnSpcReduction="10000"/>
          </a:bodyPr>
          <a:lstStyle/>
          <a:p>
            <a:r>
              <a:rPr lang="fr-FR" b="1" dirty="0"/>
              <a:t>Preuve réseau (Wireshark)</a:t>
            </a:r>
          </a:p>
          <a:p>
            <a:r>
              <a:rPr lang="fr-FR" dirty="0"/>
              <a:t>Capture Wireshark filtrée sur </a:t>
            </a:r>
            <a:r>
              <a:rPr lang="fr-FR" b="1" dirty="0"/>
              <a:t>SSH (</a:t>
            </a:r>
            <a:r>
              <a:rPr lang="fr-FR" b="1" dirty="0" err="1"/>
              <a:t>tcp</a:t>
            </a:r>
            <a:r>
              <a:rPr lang="fr-FR" b="1" dirty="0"/>
              <a:t>/22)</a:t>
            </a:r>
            <a:r>
              <a:rPr lang="fr-FR" dirty="0"/>
              <a:t> entre attaquant et cible</a:t>
            </a:r>
          </a:p>
          <a:p>
            <a:r>
              <a:rPr lang="fr-FR" dirty="0"/>
              <a:t>On observe les échanges puis l’interruption (RST / </a:t>
            </a:r>
            <a:r>
              <a:rPr lang="fr-FR" dirty="0" err="1"/>
              <a:t>unreachable</a:t>
            </a:r>
            <a:r>
              <a:rPr lang="fr-FR" dirty="0"/>
              <a:t> selon le moment)</a:t>
            </a:r>
          </a:p>
          <a:p>
            <a:r>
              <a:rPr lang="fr-FR" dirty="0"/>
              <a:t>Cette capture constitue une preuve réseau que l’attaque a eu lieu et que la communication est ensuite bloquée</a:t>
            </a:r>
          </a:p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xmlns="" id="{5499610A-E292-009B-A96B-83928CD64D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884" y="3050808"/>
            <a:ext cx="11592232" cy="2364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496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xmlns="" id="{487F75BC-0FA5-D551-307F-77186CBBB1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207" y="331121"/>
            <a:ext cx="4599038" cy="2795537"/>
          </a:xfrm>
        </p:spPr>
        <p:txBody>
          <a:bodyPr>
            <a:normAutofit fontScale="70000" lnSpcReduction="20000"/>
          </a:bodyPr>
          <a:lstStyle/>
          <a:p>
            <a:r>
              <a:rPr lang="fr-FR" b="1" dirty="0"/>
              <a:t>Centralisation des preuves dans </a:t>
            </a:r>
            <a:r>
              <a:rPr lang="fr-FR" b="1" dirty="0" err="1"/>
              <a:t>TheHive</a:t>
            </a:r>
            <a:endParaRPr lang="fr-FR" b="1" dirty="0"/>
          </a:p>
          <a:p>
            <a:r>
              <a:rPr lang="fr-FR" dirty="0"/>
              <a:t>Toutes les preuves ont été attachées au case </a:t>
            </a:r>
            <a:r>
              <a:rPr lang="fr-FR" dirty="0" err="1"/>
              <a:t>TheHive</a:t>
            </a:r>
            <a:r>
              <a:rPr lang="fr-FR" dirty="0"/>
              <a:t> :</a:t>
            </a:r>
          </a:p>
          <a:p>
            <a:pPr lvl="1"/>
            <a:r>
              <a:rPr lang="fr-FR" dirty="0"/>
              <a:t>auth_hydra_ssh.log (SSH)</a:t>
            </a:r>
          </a:p>
          <a:p>
            <a:pPr lvl="1"/>
            <a:r>
              <a:rPr lang="fr-FR" dirty="0"/>
              <a:t>suricata_fast_ssh.log / </a:t>
            </a:r>
            <a:r>
              <a:rPr lang="fr-FR" dirty="0" err="1"/>
              <a:t>suricata_eve_ssh.json</a:t>
            </a:r>
            <a:r>
              <a:rPr lang="fr-FR" dirty="0"/>
              <a:t> (IDS)</a:t>
            </a:r>
          </a:p>
          <a:p>
            <a:pPr lvl="1"/>
            <a:r>
              <a:rPr lang="fr-FR" dirty="0"/>
              <a:t>fail2ban_ban.log (réponse)</a:t>
            </a:r>
          </a:p>
          <a:p>
            <a:pPr lvl="1"/>
            <a:r>
              <a:rPr lang="fr-FR" dirty="0"/>
              <a:t>capture Wireshark (</a:t>
            </a:r>
            <a:r>
              <a:rPr lang="fr-FR" dirty="0" err="1"/>
              <a:t>pcap</a:t>
            </a:r>
            <a:r>
              <a:rPr lang="fr-FR" dirty="0"/>
              <a:t>)</a:t>
            </a:r>
          </a:p>
          <a:p>
            <a:r>
              <a:rPr lang="fr-FR" dirty="0"/>
              <a:t>La chronologie montre l’enchaînement :</a:t>
            </a:r>
            <a:br>
              <a:rPr lang="fr-FR" dirty="0"/>
            </a:br>
            <a:r>
              <a:rPr lang="fr-FR" b="1" dirty="0"/>
              <a:t>Détection SIEM (</a:t>
            </a:r>
            <a:r>
              <a:rPr lang="fr-FR" b="1" dirty="0" err="1"/>
              <a:t>Wazuh</a:t>
            </a:r>
            <a:r>
              <a:rPr lang="fr-FR" b="1" dirty="0"/>
              <a:t>) → Détection IDS (</a:t>
            </a:r>
            <a:r>
              <a:rPr lang="fr-FR" b="1" dirty="0" err="1"/>
              <a:t>Suricata</a:t>
            </a:r>
            <a:r>
              <a:rPr lang="fr-FR" b="1" dirty="0"/>
              <a:t>) → Réponse (Fail2Ban ban IP)</a:t>
            </a:r>
            <a:endParaRPr lang="fr-FR" dirty="0"/>
          </a:p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xmlns="" id="{5CDEF33C-969D-899E-E0ED-0F161D01442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2322" y="2989008"/>
            <a:ext cx="7175471" cy="3610982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xmlns="" id="{10741895-38F9-59DA-706C-6421909AC5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8188" y="120359"/>
            <a:ext cx="6161142" cy="2703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355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C26E2F1C-4A39-72FB-62BE-6FDE864F2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26321"/>
            <a:ext cx="10515600" cy="910931"/>
          </a:xfrm>
        </p:spPr>
        <p:txBody>
          <a:bodyPr/>
          <a:lstStyle/>
          <a:p>
            <a:pPr algn="ctr"/>
            <a:r>
              <a:rPr lang="fr-FR" b="1" dirty="0" smtClean="0"/>
              <a:t>Conclusion</a:t>
            </a:r>
            <a:r>
              <a:rPr lang="fr-FR" b="1" dirty="0"/>
              <a:t/>
            </a:r>
            <a:br>
              <a:rPr lang="fr-FR" b="1" dirty="0"/>
            </a:b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xmlns="" id="{D8604A44-E12C-BCB9-CE43-D9CE7AC1C8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48412"/>
            <a:ext cx="10515600" cy="2795536"/>
          </a:xfrm>
        </p:spPr>
        <p:txBody>
          <a:bodyPr/>
          <a:lstStyle/>
          <a:p>
            <a:r>
              <a:rPr lang="fr-FR" dirty="0"/>
              <a:t>Le mini-SOC détecte une attaque SSH brute force via </a:t>
            </a:r>
            <a:r>
              <a:rPr lang="fr-FR" b="1" dirty="0"/>
              <a:t>plusieurs sources</a:t>
            </a:r>
            <a:r>
              <a:rPr lang="fr-FR" dirty="0"/>
              <a:t> (logs système + IDS + SIEM)</a:t>
            </a:r>
          </a:p>
          <a:p>
            <a:r>
              <a:rPr lang="fr-FR" dirty="0"/>
              <a:t>La corrélation par IOC (10.10.10.30) permet de confirmer l’incident</a:t>
            </a:r>
          </a:p>
          <a:p>
            <a:r>
              <a:rPr lang="fr-FR" dirty="0"/>
              <a:t>La réponse automatique </a:t>
            </a:r>
            <a:r>
              <a:rPr lang="fr-FR" b="1" dirty="0"/>
              <a:t>Fail2Ban</a:t>
            </a:r>
            <a:r>
              <a:rPr lang="fr-FR" dirty="0"/>
              <a:t> stoppe l’attaque et fournit une preuve mesurable (Connection </a:t>
            </a:r>
            <a:r>
              <a:rPr lang="fr-FR" dirty="0" err="1"/>
              <a:t>refused</a:t>
            </a:r>
            <a:r>
              <a:rPr lang="fr-FR" dirty="0"/>
              <a:t>)</a:t>
            </a:r>
          </a:p>
          <a:p>
            <a:r>
              <a:rPr lang="fr-FR" dirty="0" err="1"/>
              <a:t>TheHive</a:t>
            </a:r>
            <a:r>
              <a:rPr lang="fr-FR" dirty="0"/>
              <a:t> centralise l’incident, les observables, les tâches et les preuves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92672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131</TotalTime>
  <Words>502</Words>
  <Application>Microsoft Office PowerPoint</Application>
  <PresentationFormat>Grand écran</PresentationFormat>
  <Paragraphs>99</Paragraphs>
  <Slides>13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7" baseType="lpstr">
      <vt:lpstr>Arial</vt:lpstr>
      <vt:lpstr>Century Gothic</vt:lpstr>
      <vt:lpstr>Wingdings 3</vt:lpstr>
      <vt:lpstr>Ion</vt:lpstr>
      <vt:lpstr>Réalisation d’un Mini-SOC Open Source – Détection &amp; Réponse </vt:lpstr>
      <vt:lpstr>A) Architecture, scénario, incidents détectés</vt:lpstr>
      <vt:lpstr>Présentation PowerPoint</vt:lpstr>
      <vt:lpstr>Présentation PowerPoint</vt:lpstr>
      <vt:lpstr>C) Tableau de corrélation et alertes générées </vt:lpstr>
      <vt:lpstr>D) Logs, captures et analyse des alertes détectées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Conclusion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Ekteb nom w prof etc  ya chakib ya sema7</dc:title>
  <dc:creator>ben ali adem</dc:creator>
  <cp:lastModifiedBy>HP</cp:lastModifiedBy>
  <cp:revision>5</cp:revision>
  <dcterms:created xsi:type="dcterms:W3CDTF">2025-12-31T16:46:47Z</dcterms:created>
  <dcterms:modified xsi:type="dcterms:W3CDTF">2026-01-02T18:10:41Z</dcterms:modified>
</cp:coreProperties>
</file>